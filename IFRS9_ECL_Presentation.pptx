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3F4F6"/>
                </a:solidFill>
                <a:latin typeface="Outfit"/>
              </a:defRPr>
            </a:pPr>
            <a:r>
              <a:t>IFRS 9 Expected Credit Loss (ECL)</a:t>
            </a:r>
            <a:br/>
            <a:r>
              <a:t>Calculator &amp; Analytics Dashboard</a:t>
            </a:r>
          </a:p>
          <a:p>
            <a:pPr>
              <a:spcBef>
                <a:spcPts val="1500"/>
              </a:spcBef>
              <a:defRPr sz="1800">
                <a:solidFill>
                  <a:srgbClr val="3B82F6"/>
                </a:solidFill>
                <a:latin typeface="Outfit"/>
              </a:defRPr>
            </a:pPr>
            <a:r>
              <a:t>Bridging Credit Risk Quantitative Modeling &amp; Modern Dashboard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Portfolio Risk Analytics Portfolio Project</a:t>
            </a:r>
            <a:br/>
            <a:r>
              <a:t>Tech Stack: Python (FastAPI, Pandas, SciPy, Scikit-Learn) | HTML5, Vanilla CSS, JS, Chart.js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Outfit"/>
              </a:defRPr>
            </a:pPr>
            <a:r>
              <a:t>IFRS 9 ECL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Outfit"/>
              </a:defRPr>
            </a:pPr>
            <a:r>
              <a:t>Data Quality &amp; Pre-Calculation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</a:pPr>
            <a:r>
              <a:rPr b="1" sz="1600">
                <a:solidFill>
                  <a:srgbClr val="3B82F6"/>
                </a:solidFill>
                <a:latin typeface="Outfit"/>
              </a:rPr>
              <a:t>[Completeness Controls] </a:t>
            </a:r>
            <a:r>
              <a:rPr sz="1600">
                <a:solidFill>
                  <a:srgbClr val="F3F4F6"/>
                </a:solidFill>
                <a:latin typeface="Outfit"/>
              </a:rPr>
              <a:t>Scans and flags missing credit ratings or exposure amounts on load, preventing execution failures.</a:t>
            </a:r>
          </a:p>
          <a:p>
            <a:pPr>
              <a:spcBef>
                <a:spcPts val="1200"/>
              </a:spcBef>
            </a:pPr>
            <a:r>
              <a:rPr b="1" sz="1600">
                <a:solidFill>
                  <a:srgbClr val="3B82F6"/>
                </a:solidFill>
                <a:latin typeface="Outfit"/>
              </a:rPr>
              <a:t>[Logical Consistency Checks] </a:t>
            </a:r>
            <a:r>
              <a:rPr sz="1600">
                <a:solidFill>
                  <a:srgbClr val="F3F4F6"/>
                </a:solidFill>
                <a:latin typeface="Outfit"/>
              </a:rPr>
              <a:t>Rejects records with negative Days Past Due (DPD), negative interest rates (EIR), or outstanding balances exceeding limits by more than 1.05x.</a:t>
            </a:r>
          </a:p>
          <a:p>
            <a:pPr>
              <a:spcBef>
                <a:spcPts val="1200"/>
              </a:spcBef>
            </a:pPr>
            <a:r>
              <a:rPr b="1" sz="1600">
                <a:solidFill>
                  <a:srgbClr val="3B82F6"/>
                </a:solidFill>
                <a:latin typeface="Outfit"/>
              </a:rPr>
              <a:t>[Outlier Screening] </a:t>
            </a:r>
            <a:r>
              <a:rPr sz="1600">
                <a:solidFill>
                  <a:srgbClr val="F3F4F6"/>
                </a:solidFill>
                <a:latin typeface="Outfit"/>
              </a:rPr>
              <a:t>Flags abnormal Loan-To-Value ratios (LTV &gt; 300%) or high interest rates (EIR &gt; 35%) reflecting data input errors.</a:t>
            </a:r>
          </a:p>
          <a:p>
            <a:pPr>
              <a:spcBef>
                <a:spcPts val="1200"/>
              </a:spcBef>
            </a:pPr>
            <a:r>
              <a:rPr b="1" sz="1600">
                <a:solidFill>
                  <a:srgbClr val="3B82F6"/>
                </a:solidFill>
                <a:latin typeface="Outfit"/>
              </a:rPr>
              <a:t>[Audit-Ready Quarantining] </a:t>
            </a:r>
            <a:r>
              <a:rPr sz="1600">
                <a:solidFill>
                  <a:srgbClr val="F3F4F6"/>
                </a:solidFill>
                <a:latin typeface="Outfit"/>
              </a:rPr>
              <a:t>Automatically separates clean data from dirty data (97.5% clean rate on mock portfolio), logging errors in a dedicated interactive 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Outfit"/>
              </a:defRPr>
            </a:pPr>
            <a:r>
              <a:t>IFRS 9 ECL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Outfit"/>
              </a:defRPr>
            </a:pPr>
            <a:r>
              <a:t>IFRS 9 ECL Calculation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</a:pPr>
            <a:r>
              <a:rPr b="1" sz="1600">
                <a:solidFill>
                  <a:srgbClr val="3B82F6"/>
                </a:solidFill>
                <a:latin typeface="Outfit"/>
              </a:rPr>
              <a:t>• Stage 1 (12-Month ECL): </a:t>
            </a:r>
            <a:r>
              <a:rPr sz="1600">
                <a:solidFill>
                  <a:srgbClr val="F3F4F6"/>
                </a:solidFill>
                <a:latin typeface="Outfit"/>
              </a:rPr>
              <a:t>Performing assets. Receives 12m PD losses discounted at EIR.</a:t>
            </a:r>
          </a:p>
          <a:p>
            <a:pPr>
              <a:spcBef>
                <a:spcPts val="1200"/>
              </a:spcBef>
            </a:pPr>
            <a:r>
              <a:rPr b="1" sz="1600">
                <a:solidFill>
                  <a:srgbClr val="3B82F6"/>
                </a:solidFill>
                <a:latin typeface="Outfit"/>
              </a:rPr>
              <a:t>• Stage 2 (Lifetime ECL - SICR): </a:t>
            </a:r>
            <a:r>
              <a:rPr sz="1600">
                <a:solidFill>
                  <a:srgbClr val="F3F4F6"/>
                </a:solidFill>
                <a:latin typeface="Outfit"/>
              </a:rPr>
              <a:t>Triggered if DPD &gt;= 30, rating downgrades, Relative PD Ratio &gt;= 3.0x, or Absolute PD Difference &gt;= 2.0% (avoids false-positives on low-risk loans).</a:t>
            </a:r>
          </a:p>
          <a:p>
            <a:pPr>
              <a:spcBef>
                <a:spcPts val="1200"/>
              </a:spcBef>
            </a:pPr>
            <a:r>
              <a:rPr b="1" sz="1600">
                <a:solidFill>
                  <a:srgbClr val="3B82F6"/>
                </a:solidFill>
                <a:latin typeface="Outfit"/>
              </a:rPr>
              <a:t>• Stage 3 (Lifetime ECL - Default): </a:t>
            </a:r>
            <a:r>
              <a:rPr sz="1600">
                <a:solidFill>
                  <a:srgbClr val="F3F4F6"/>
                </a:solidFill>
                <a:latin typeface="Outfit"/>
              </a:rPr>
              <a:t>Impaired assets (Rating 10 or DPD &gt;= 90).</a:t>
            </a:r>
          </a:p>
          <a:p>
            <a:pPr>
              <a:spcBef>
                <a:spcPts val="1200"/>
              </a:spcBef>
            </a:pPr>
            <a:r>
              <a:rPr b="1" sz="1600">
                <a:solidFill>
                  <a:srgbClr val="3B82F6"/>
                </a:solidFill>
                <a:latin typeface="Outfit"/>
              </a:rPr>
              <a:t>• Vasicek TTC to PiT Transformation: </a:t>
            </a:r>
            <a:r>
              <a:rPr sz="1600">
                <a:solidFill>
                  <a:srgbClr val="F3F4F6"/>
                </a:solidFill>
                <a:latin typeface="Outfit"/>
              </a:rPr>
              <a:t>Transforms Through-The-Cycle PDs to Point-in-Time curves based on macro systematic factor (Y) using Merton-Vasicek single-factor model.</a:t>
            </a:r>
          </a:p>
          <a:p>
            <a:pPr>
              <a:spcBef>
                <a:spcPts val="1200"/>
              </a:spcBef>
            </a:pPr>
            <a:r>
              <a:rPr b="1" sz="1600">
                <a:solidFill>
                  <a:srgbClr val="3B82F6"/>
                </a:solidFill>
                <a:latin typeface="Outfit"/>
              </a:rPr>
              <a:t>• Marginal PD &amp; Collateralized LGD: </a:t>
            </a:r>
            <a:r>
              <a:rPr sz="1600">
                <a:solidFill>
                  <a:srgbClr val="F3F4F6"/>
                </a:solidFill>
                <a:latin typeface="Outfit"/>
              </a:rPr>
              <a:t>Projects conditional and marginal PD curves for annual discounting. Computes LGD weighted by secured portions with haircut deductions (Real Estate 20%, Vehicle 35%).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Outfit"/>
              </a:defRPr>
            </a:pPr>
            <a:r>
              <a:t>IFRS 9 ECL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Outfit"/>
              </a:defRPr>
            </a:pPr>
            <a:r>
              <a:t>ECL Forecasting &amp; Scenario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</a:pPr>
            <a:r>
              <a:rPr b="1" sz="1600">
                <a:solidFill>
                  <a:srgbClr val="3B82F6"/>
                </a:solidFill>
                <a:latin typeface="Outfit"/>
              </a:rPr>
              <a:t>[Multi-Scenario Projections] </a:t>
            </a:r>
            <a:r>
              <a:rPr sz="1600">
                <a:solidFill>
                  <a:srgbClr val="F3F4F6"/>
                </a:solidFill>
                <a:latin typeface="Outfit"/>
              </a:rPr>
              <a:t>Models ECL charges over a 5-year budget horizon (2026-2030) under Base Case, Optimistic Case, and Pessimistic (Stress Case) macroeconomic paths.</a:t>
            </a:r>
          </a:p>
          <a:p>
            <a:pPr>
              <a:spcBef>
                <a:spcPts val="1200"/>
              </a:spcBef>
            </a:pPr>
            <a:r>
              <a:rPr b="1" sz="1600">
                <a:solidFill>
                  <a:srgbClr val="3B82F6"/>
                </a:solidFill>
                <a:latin typeface="Outfit"/>
              </a:rPr>
              <a:t>[Portfolio Amortization Decay] </a:t>
            </a:r>
            <a:r>
              <a:rPr sz="1600">
                <a:solidFill>
                  <a:srgbClr val="F3F4F6"/>
                </a:solidFill>
                <a:latin typeface="Outfit"/>
              </a:rPr>
              <a:t>Assumes a natural 15% annual portfolio decay to reflect loan paydowns and shrinking remaining terms over the forecast horizon.</a:t>
            </a:r>
          </a:p>
          <a:p>
            <a:pPr>
              <a:spcBef>
                <a:spcPts val="1200"/>
              </a:spcBef>
            </a:pPr>
            <a:r>
              <a:rPr b="1" sz="1600">
                <a:solidFill>
                  <a:srgbClr val="3B82F6"/>
                </a:solidFill>
                <a:latin typeface="Outfit"/>
              </a:rPr>
              <a:t>[Stress Test Sensitivities] </a:t>
            </a:r>
            <a:r>
              <a:rPr sz="1600">
                <a:solidFill>
                  <a:srgbClr val="F3F4F6"/>
                </a:solidFill>
                <a:latin typeface="Outfit"/>
              </a:rPr>
              <a:t>Under severe economic stress (Pessimistic scenario), the model dynamically shifts ratings and projects spikes in Stage 2/3 and ECL charges.</a:t>
            </a:r>
          </a:p>
          <a:p>
            <a:pPr>
              <a:spcBef>
                <a:spcPts val="1200"/>
              </a:spcBef>
            </a:pPr>
            <a:r>
              <a:rPr b="1" sz="1600">
                <a:solidFill>
                  <a:srgbClr val="3B82F6"/>
                </a:solidFill>
                <a:latin typeface="Outfit"/>
              </a:rPr>
              <a:t>[Capital &amp; Reserves Planning] </a:t>
            </a:r>
            <a:r>
              <a:rPr sz="1600">
                <a:solidFill>
                  <a:srgbClr val="F3F4F6"/>
                </a:solidFill>
                <a:latin typeface="Outfit"/>
              </a:rPr>
              <a:t>Provides risk department outputs to align loan-loss provisioning and capital adequacy reserves for budget planning activities.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Outfit"/>
              </a:defRPr>
            </a:pPr>
            <a:r>
              <a:t>IFRS 9 ECL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Outfit"/>
              </a:defRPr>
            </a:pPr>
            <a:r>
              <a:t>Model Monitoring &amp; Recalibration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</a:pPr>
            <a:r>
              <a:rPr b="1" sz="1600">
                <a:solidFill>
                  <a:srgbClr val="3B82F6"/>
                </a:solidFill>
                <a:latin typeface="Outfit"/>
              </a:rPr>
              <a:t>[Model Discrimination (Gini/AUC)] </a:t>
            </a:r>
            <a:r>
              <a:rPr sz="1600">
                <a:solidFill>
                  <a:srgbClr val="F3F4F6"/>
                </a:solidFill>
                <a:latin typeface="Outfit"/>
              </a:rPr>
              <a:t>Calculates ROC curves and Gini coefficients (~0.82) to measure the rating model's ability to rank-order default risk.</a:t>
            </a:r>
          </a:p>
          <a:p>
            <a:pPr>
              <a:spcBef>
                <a:spcPts val="1200"/>
              </a:spcBef>
            </a:pPr>
            <a:r>
              <a:rPr b="1" sz="1600">
                <a:solidFill>
                  <a:srgbClr val="3B82F6"/>
                </a:solidFill>
                <a:latin typeface="Outfit"/>
              </a:rPr>
              <a:t>[Hardcoded Population Stability Index (PSI)] </a:t>
            </a:r>
            <a:r>
              <a:rPr sz="1600">
                <a:solidFill>
                  <a:srgbClr val="F3F4F6"/>
                </a:solidFill>
                <a:latin typeface="Outfit"/>
              </a:rPr>
              <a:t>Implemented step-by-step in pure Python to measure rating distribution shift between origination (baseline) and today. Classifies shifts: Green (&lt;0.10), Amber (0.10-0.25), Red (&gt;=0.25).</a:t>
            </a:r>
          </a:p>
          <a:p>
            <a:pPr>
              <a:spcBef>
                <a:spcPts val="1200"/>
              </a:spcBef>
            </a:pPr>
            <a:r>
              <a:rPr b="1" sz="1600">
                <a:solidFill>
                  <a:srgbClr val="3B82F6"/>
                </a:solidFill>
                <a:latin typeface="Outfit"/>
              </a:rPr>
              <a:t>[Audit-Safe Backtesting] </a:t>
            </a:r>
            <a:r>
              <a:rPr sz="1600">
                <a:solidFill>
                  <a:srgbClr val="F3F4F6"/>
                </a:solidFill>
                <a:latin typeface="Outfit"/>
              </a:rPr>
              <a:t>Compares average predicted 12-month PiT PD against actual observed default rates by rating grade to verify calibration correctness.</a:t>
            </a:r>
          </a:p>
          <a:p>
            <a:pPr>
              <a:spcBef>
                <a:spcPts val="1200"/>
              </a:spcBef>
            </a:pPr>
            <a:r>
              <a:rPr b="1" sz="1600">
                <a:solidFill>
                  <a:srgbClr val="3B82F6"/>
                </a:solidFill>
                <a:latin typeface="Outfit"/>
              </a:rPr>
              <a:t>[Model Drift Mitigation] </a:t>
            </a:r>
            <a:r>
              <a:rPr sz="1600">
                <a:solidFill>
                  <a:srgbClr val="F3F4F6"/>
                </a:solidFill>
                <a:latin typeface="Outfit"/>
              </a:rPr>
              <a:t>Provides actionable triggers for risk managers (e.g. Amber/Red PSI status triggers model recalibration warning).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